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media/image1.wmf" ContentType="image/x-wmf"/>
  <Override PartName="/ppt/media/image2.wmf" ContentType="image/x-wmf"/>
  <Override PartName="/ppt/media/image3.wmf" ContentType="image/x-wmf"/>
  <Override PartName="/ppt/media/image4.wmf" ContentType="image/x-wmf"/>
  <Override PartName="/ppt/media/image5.wmf" ContentType="image/x-wmf"/>
  <Override PartName="/ppt/media/image6.wmf" ContentType="image/x-wmf"/>
  <Override PartName="/ppt/media/image7.wmf" ContentType="image/x-wmf"/>
  <Override PartName="/ppt/media/image11.wmf" ContentType="image/x-wmf"/>
  <Override PartName="/ppt/media/image8.wmf" ContentType="image/x-wmf"/>
  <Override PartName="/ppt/media/image10.wmf" ContentType="image/x-wmf"/>
  <Override PartName="/ppt/media/image9.wmf" ContentType="image/x-wmf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709EB8-8D4D-42EF-9B0A-923C68D6231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840775-38F7-4C3F-8453-7AEFC223945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image" Target="../media/image3.wmf"/><Relationship Id="rId4" Type="http://schemas.openxmlformats.org/officeDocument/2006/relationships/image" Target="../media/image4.wmf"/><Relationship Id="rId5" Type="http://schemas.openxmlformats.org/officeDocument/2006/relationships/image" Target="../media/image5.wmf"/><Relationship Id="rId6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wmf"/><Relationship Id="rId2" Type="http://schemas.openxmlformats.org/officeDocument/2006/relationships/image" Target="../media/image7.wmf"/><Relationship Id="rId3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wmf"/><Relationship Id="rId2" Type="http://schemas.openxmlformats.org/officeDocument/2006/relationships/image" Target="../media/image9.wmf"/><Relationship Id="rId3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wmf"/><Relationship Id="rId2" Type="http://schemas.openxmlformats.org/officeDocument/2006/relationships/image" Target="../media/image11.wmf"/><Relationship Id="rId3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29560" y="88164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Book Recommender System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3729960" y="3614040"/>
            <a:ext cx="2212920" cy="95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Martin Stárek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3657600" y="1828800"/>
            <a:ext cx="2513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for DataSentics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28528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Chapter 1 – The Past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Matrix Factorization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685800" y="1600200"/>
            <a:ext cx="3666600" cy="9615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" name=""/>
          <p:cNvSpPr/>
          <p:nvPr/>
        </p:nvSpPr>
        <p:spPr>
          <a:xfrm>
            <a:off x="5257800" y="2057400"/>
            <a:ext cx="1026360" cy="8492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" name=""/>
          <p:cNvSpPr/>
          <p:nvPr/>
        </p:nvSpPr>
        <p:spPr>
          <a:xfrm>
            <a:off x="7086600" y="1879920"/>
            <a:ext cx="1269000" cy="6339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" name=""/>
          <p:cNvSpPr/>
          <p:nvPr/>
        </p:nvSpPr>
        <p:spPr>
          <a:xfrm>
            <a:off x="685800" y="3242520"/>
            <a:ext cx="8282520" cy="41436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" name=""/>
          <p:cNvSpPr/>
          <p:nvPr/>
        </p:nvSpPr>
        <p:spPr>
          <a:xfrm>
            <a:off x="5257800" y="1770120"/>
            <a:ext cx="1319760" cy="28656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Tuning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44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" name=""/>
          <p:cNvGraphicFramePr/>
          <p:nvPr/>
        </p:nvGraphicFramePr>
        <p:xfrm>
          <a:off x="504000" y="1326600"/>
          <a:ext cx="9096840" cy="693360"/>
        </p:xfrm>
        <a:graphic>
          <a:graphicData uri="http://schemas.openxmlformats.org/drawingml/2006/table">
            <a:tbl>
              <a:tblPr/>
              <a:tblGrid>
                <a:gridCol w="826920"/>
                <a:gridCol w="826920"/>
                <a:gridCol w="826920"/>
                <a:gridCol w="826920"/>
                <a:gridCol w="826920"/>
                <a:gridCol w="826920"/>
                <a:gridCol w="826920"/>
                <a:gridCol w="826920"/>
                <a:gridCol w="826920"/>
                <a:gridCol w="826920"/>
                <a:gridCol w="828000"/>
              </a:tblGrid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256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384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#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"/>
          <p:cNvSpPr/>
          <p:nvPr/>
        </p:nvSpPr>
        <p:spPr>
          <a:xfrm>
            <a:off x="457200" y="2514600"/>
            <a:ext cx="86860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number of times (out of 100) when model with interaction terms didn’t outperform model with only biases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Planned Hybrid Loss Function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2743200" y="1828800"/>
            <a:ext cx="4000680" cy="18291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" name=""/>
          <p:cNvSpPr/>
          <p:nvPr/>
        </p:nvSpPr>
        <p:spPr>
          <a:xfrm>
            <a:off x="3393000" y="4284720"/>
            <a:ext cx="2778480" cy="2865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Evaluation Metrics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04000" y="1283760"/>
            <a:ext cx="9070920" cy="351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Agreement with bias-only: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On average, the share of the same recommended items for a given user as the bias-only model.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Mean overlap: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Expected share of shared items between two random users. My main personalization metric.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s-CZ" sz="2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Coverage:</a:t>
            </a:r>
            <a:r>
              <a:rPr lang="cs-CZ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Total number of distinct recommended books.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Relative log-ARP: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How popular (in terms of number of ratings) the recommended items are, on average.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Relative mean rating: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Average rating of recommended books /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μ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Entropy: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How evenly the recommendations are distributed across items.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First Models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1" name=""/>
          <p:cNvGraphicFramePr/>
          <p:nvPr/>
        </p:nvGraphicFramePr>
        <p:xfrm>
          <a:off x="457200" y="1326600"/>
          <a:ext cx="9117720" cy="1733400"/>
        </p:xfrm>
        <a:graphic>
          <a:graphicData uri="http://schemas.openxmlformats.org/drawingml/2006/table">
            <a:tbl>
              <a:tblPr/>
              <a:tblGrid>
                <a:gridCol w="1361880"/>
                <a:gridCol w="1263600"/>
                <a:gridCol w="792720"/>
                <a:gridCol w="1139400"/>
                <a:gridCol w="1139400"/>
                <a:gridCol w="1139400"/>
                <a:gridCol w="1139400"/>
                <a:gridCol w="1142280"/>
              </a:tblGrid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Model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RMSE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AWB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MOV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COV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ARP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RMR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ENT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random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8.03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0.981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-0.66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0.99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0.99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bias-only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1.58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0.995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-0.03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1.23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full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1.58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0.755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0.801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1.23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0.23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full_w_beta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1.77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0.035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0.158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1.26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0.98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2" name=""/>
          <p:cNvSpPr/>
          <p:nvPr/>
        </p:nvSpPr>
        <p:spPr>
          <a:xfrm>
            <a:off x="3200400" y="3497400"/>
            <a:ext cx="2364840" cy="6166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" name=""/>
          <p:cNvSpPr/>
          <p:nvPr/>
        </p:nvSpPr>
        <p:spPr>
          <a:xfrm>
            <a:off x="685800" y="3726000"/>
            <a:ext cx="3199680" cy="16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full: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full_w_beta: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tuned for RMSE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3185640" y="4183200"/>
            <a:ext cx="2528640" cy="6166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Improved Models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6" name=""/>
          <p:cNvGraphicFramePr/>
          <p:nvPr/>
        </p:nvGraphicFramePr>
        <p:xfrm>
          <a:off x="504000" y="1326600"/>
          <a:ext cx="9071280" cy="2080080"/>
        </p:xfrm>
        <a:graphic>
          <a:graphicData uri="http://schemas.openxmlformats.org/drawingml/2006/table">
            <a:tbl>
              <a:tblPr/>
              <a:tblGrid>
                <a:gridCol w="1328400"/>
                <a:gridCol w="906120"/>
                <a:gridCol w="788400"/>
                <a:gridCol w="1007640"/>
                <a:gridCol w="1007640"/>
                <a:gridCol w="1007640"/>
                <a:gridCol w="1007640"/>
                <a:gridCol w="1007640"/>
                <a:gridCol w="1010520"/>
              </a:tblGrid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Model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NDCG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RMSE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AWB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MOV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COV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ARP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RMR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ENT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random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8.03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0.98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-0.66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0.99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0.99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bias-only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1.58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0.96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-0.03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1.23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full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1.58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0.755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0.80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1.23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0.23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full_w_beta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0.022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1.77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1.26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0.98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UV-only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0.040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6.04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1.82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1.06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0.53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7" name=""/>
          <p:cNvSpPr/>
          <p:nvPr/>
        </p:nvSpPr>
        <p:spPr>
          <a:xfrm>
            <a:off x="457200" y="3886200"/>
            <a:ext cx="4799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same models, just tuned for NDCG@5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28528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Chapter 2 – The Present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Final Model(s)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0" name=""/>
          <p:cNvGraphicFramePr/>
          <p:nvPr/>
        </p:nvGraphicFramePr>
        <p:xfrm>
          <a:off x="504000" y="1326600"/>
          <a:ext cx="9071280" cy="2080080"/>
        </p:xfrm>
        <a:graphic>
          <a:graphicData uri="http://schemas.openxmlformats.org/drawingml/2006/table">
            <a:tbl>
              <a:tblPr/>
              <a:tblGrid>
                <a:gridCol w="1133640"/>
                <a:gridCol w="1133640"/>
                <a:gridCol w="1133640"/>
                <a:gridCol w="1133640"/>
                <a:gridCol w="1133640"/>
                <a:gridCol w="1133640"/>
                <a:gridCol w="1133640"/>
                <a:gridCol w="1136160"/>
              </a:tblGrid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Model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NDCG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AWB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MOV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COV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ARP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RMR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ENT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UV-only.1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0.043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1.68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1.059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0.57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UV-only.2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0.045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0.24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1.50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1.059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0.61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UV-only.3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0.046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0.34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1.27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1.060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0.67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UV-only.4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0.046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0.45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0.99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1.060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0.72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UV-only.5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0.044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0.56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0.74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1.060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0.77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1" name=""/>
          <p:cNvSpPr/>
          <p:nvPr/>
        </p:nvSpPr>
        <p:spPr>
          <a:xfrm>
            <a:off x="685800" y="3954600"/>
            <a:ext cx="3932280" cy="7570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" name=""/>
          <p:cNvSpPr/>
          <p:nvPr/>
        </p:nvSpPr>
        <p:spPr>
          <a:xfrm>
            <a:off x="4398840" y="2514600"/>
            <a:ext cx="1269000" cy="1684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Harry Potter Smoke Test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228600" y="1172520"/>
            <a:ext cx="9600480" cy="408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Inputs: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0590353403,Harry Potter and the Sorcerer's Stone (Book 1),J. K. Rowling,1998,Scholastic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0439064864,Harry Potter and the Chamber of Secrets (Book 2),J. K. Rowling,1999,Scholastic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0439136350,Harry Potter and the Prisoner of Azkaban (Book 3),J. K. Rowling,1999,Scholastic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0439139597,Harry Potter and the Goblet of Fire (Book 4),J. K. Rowling,2000,Scholastic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Results: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043935806X, Harry Potter and the Order of the Phoenix (Book 5),J. K. Rowling,2003,Scholastic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059035342X, Harry Potter and the Sorcerer's Stone (Harry Potter (Paperback)),J. K. Rowling,1999,Arthur A. Levine Books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0439139600, Harry Potter and the Goblet of Fire (Book 4),J. K. Rowling,2002,Scholastic Paperbacks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0439064872, Harry Potter and the Chamber of Secrets (Book 2),J. K. Rowling,2000,Scholastic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0439136369, Harry Potter and the Prisoner of Azkaban (Book 3),J. K. Rowling,2001,Scholastic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Chapter 3 – The Future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Embeddings for content-based filtering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Using implicit ratings only (SDG)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Solving the cold-start problem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2840"/>
            <a:ext cx="4067640" cy="62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Vision of the UI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" name=""/>
          <p:cNvPicPr/>
          <p:nvPr/>
        </p:nvPicPr>
        <p:blipFill>
          <a:blip r:embed="rId1"/>
          <a:stretch/>
        </p:blipFill>
        <p:spPr>
          <a:xfrm>
            <a:off x="4970520" y="360"/>
            <a:ext cx="5087520" cy="56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29920" y="2552400"/>
            <a:ext cx="907092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Thank you for your attention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Application>LibreOffice/25.8.5.2$Windows_X86_64 LibreOffice_project/9c8b85f387cc00a89945a79c9e6239f32e450ac2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2026-04-30T09:51:25Z</dcterms:created>
  <dc:creator/>
  <dc:description/>
  <dc:language>en-US</dc:language>
  <cp:lastModifiedBy/>
  <cp:lastPrinted>2026-04-30T11:38:09Z</cp:lastPrinted>
  <dcterms:modified xsi:type="dcterms:W3CDTF">2026-04-30T11:45:52Z</dcterms:modified>
  <cp:revision>16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